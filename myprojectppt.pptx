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rimo" panose="020B0604020202020204" charset="0"/>
      <p:regular r:id="rId12"/>
    </p:embeddedFont>
    <p:embeddedFont>
      <p:font typeface="Arimo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jpe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4ditxya/concurrent-railway-booking" TargetMode="Externa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 descr="preencoded.png"/>
          <p:cNvSpPr/>
          <p:nvPr/>
        </p:nvSpPr>
        <p:spPr>
          <a:xfrm>
            <a:off x="0" y="0"/>
            <a:ext cx="18288000" cy="3544044"/>
          </a:xfrm>
          <a:custGeom>
            <a:avLst/>
            <a:gdLst/>
            <a:ahLst/>
            <a:cxnLst/>
            <a:rect l="l" t="t" r="r" b="b"/>
            <a:pathLst>
              <a:path w="18288000" h="3544044">
                <a:moveTo>
                  <a:pt x="0" y="0"/>
                </a:moveTo>
                <a:lnTo>
                  <a:pt x="18288000" y="0"/>
                </a:lnTo>
                <a:lnTo>
                  <a:pt x="18288000" y="3544044"/>
                </a:lnTo>
                <a:lnTo>
                  <a:pt x="0" y="35440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" r="-10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92238" y="4762202"/>
            <a:ext cx="14480530" cy="94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Multi-threaded Railway Reservation System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6375946"/>
            <a:ext cx="3544044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Core Functionality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7035701"/>
            <a:ext cx="780588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Selecting Seats, Canceling, and Payment Checks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99401" y="6375946"/>
            <a:ext cx="3544044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Key 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99401" y="7035701"/>
            <a:ext cx="7805886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Prevents overbooking by managing multiple threads safely. Built using Java with proper concurrency control.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99401" y="8198049"/>
            <a:ext cx="7805886" cy="871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Presented by: Sayyadain Khan</a:t>
            </a:r>
          </a:p>
          <a:p>
            <a:pPr algn="l">
              <a:lnSpc>
                <a:spcPts val="3562"/>
              </a:lnSpc>
            </a:pPr>
            <a:endParaRPr lang="en-US" sz="2187" dirty="0">
              <a:solidFill>
                <a:srgbClr val="CFD0D8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</p:spPr>
        </p:sp>
      </p:grpSp>
      <p:sp>
        <p:nvSpPr>
          <p:cNvPr id="5" name="Freeform 5" descr="preencoded.png"/>
          <p:cNvSpPr/>
          <p:nvPr/>
        </p:nvSpPr>
        <p:spPr>
          <a:xfrm>
            <a:off x="0" y="0"/>
            <a:ext cx="18288000" cy="3544044"/>
          </a:xfrm>
          <a:custGeom>
            <a:avLst/>
            <a:gdLst/>
            <a:ahLst/>
            <a:cxnLst/>
            <a:rect l="l" t="t" r="r" b="b"/>
            <a:pathLst>
              <a:path w="18288000" h="3544044">
                <a:moveTo>
                  <a:pt x="0" y="0"/>
                </a:moveTo>
                <a:lnTo>
                  <a:pt x="18288000" y="0"/>
                </a:lnTo>
                <a:lnTo>
                  <a:pt x="18288000" y="3544044"/>
                </a:lnTo>
                <a:lnTo>
                  <a:pt x="0" y="35440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" r="-10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92238" y="5393977"/>
            <a:ext cx="7088237" cy="94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Project Overview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87475" y="6757541"/>
            <a:ext cx="647402" cy="647402"/>
            <a:chOff x="0" y="0"/>
            <a:chExt cx="863203" cy="863203"/>
          </a:xfrm>
        </p:grpSpPr>
        <p:sp>
          <p:nvSpPr>
            <p:cNvPr id="8" name="Freeform 8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3D3D42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56565B"/>
            </a:solidFill>
          </p:spPr>
        </p:sp>
      </p:grpSp>
      <p:sp>
        <p:nvSpPr>
          <p:cNvPr id="10" name="Freeform 10" descr="preencoded.png"/>
          <p:cNvSpPr/>
          <p:nvPr/>
        </p:nvSpPr>
        <p:spPr>
          <a:xfrm>
            <a:off x="1098575" y="6815435"/>
            <a:ext cx="425202" cy="531614"/>
          </a:xfrm>
          <a:custGeom>
            <a:avLst/>
            <a:gdLst/>
            <a:ahLst/>
            <a:cxnLst/>
            <a:rect l="l" t="t" r="r" b="b"/>
            <a:pathLst>
              <a:path w="425202" h="531614">
                <a:moveTo>
                  <a:pt x="0" y="0"/>
                </a:moveTo>
                <a:lnTo>
                  <a:pt x="425203" y="0"/>
                </a:lnTo>
                <a:lnTo>
                  <a:pt x="425203" y="531614"/>
                </a:lnTo>
                <a:lnTo>
                  <a:pt x="0" y="531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3" r="-233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913632" y="6821538"/>
            <a:ext cx="3544044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Java-based system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13632" y="7367885"/>
            <a:ext cx="4276874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Simulates real-world railway ticket booking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540104" y="6757541"/>
            <a:ext cx="647403" cy="647402"/>
            <a:chOff x="0" y="0"/>
            <a:chExt cx="863203" cy="863203"/>
          </a:xfrm>
        </p:grpSpPr>
        <p:sp>
          <p:nvSpPr>
            <p:cNvPr id="14" name="Freeform 14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3D3D42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56565B"/>
            </a:solidFill>
          </p:spPr>
        </p:sp>
      </p:grpSp>
      <p:sp>
        <p:nvSpPr>
          <p:cNvPr id="16" name="Freeform 16" descr="preencoded.png"/>
          <p:cNvSpPr/>
          <p:nvPr/>
        </p:nvSpPr>
        <p:spPr>
          <a:xfrm>
            <a:off x="6651204" y="6815435"/>
            <a:ext cx="425202" cy="531614"/>
          </a:xfrm>
          <a:custGeom>
            <a:avLst/>
            <a:gdLst/>
            <a:ahLst/>
            <a:cxnLst/>
            <a:rect l="l" t="t" r="r" b="b"/>
            <a:pathLst>
              <a:path w="425202" h="531614">
                <a:moveTo>
                  <a:pt x="0" y="0"/>
                </a:moveTo>
                <a:lnTo>
                  <a:pt x="425202" y="0"/>
                </a:lnTo>
                <a:lnTo>
                  <a:pt x="425202" y="531614"/>
                </a:lnTo>
                <a:lnTo>
                  <a:pt x="0" y="531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33" r="-233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7466260" y="6821538"/>
            <a:ext cx="3544044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Core functionalities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66260" y="7367885"/>
            <a:ext cx="4276874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Seat selection, ticket cancellation, payment validation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092731" y="6757541"/>
            <a:ext cx="647402" cy="647402"/>
            <a:chOff x="0" y="0"/>
            <a:chExt cx="863203" cy="863203"/>
          </a:xfrm>
        </p:grpSpPr>
        <p:sp>
          <p:nvSpPr>
            <p:cNvPr id="20" name="Freeform 20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3D3D42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56565B"/>
            </a:solidFill>
          </p:spPr>
        </p:sp>
      </p:grpSp>
      <p:sp>
        <p:nvSpPr>
          <p:cNvPr id="22" name="Freeform 22" descr="preencoded.png"/>
          <p:cNvSpPr/>
          <p:nvPr/>
        </p:nvSpPr>
        <p:spPr>
          <a:xfrm>
            <a:off x="12203831" y="6815435"/>
            <a:ext cx="425202" cy="531614"/>
          </a:xfrm>
          <a:custGeom>
            <a:avLst/>
            <a:gdLst/>
            <a:ahLst/>
            <a:cxnLst/>
            <a:rect l="l" t="t" r="r" b="b"/>
            <a:pathLst>
              <a:path w="425202" h="531614">
                <a:moveTo>
                  <a:pt x="0" y="0"/>
                </a:moveTo>
                <a:lnTo>
                  <a:pt x="425203" y="0"/>
                </a:lnTo>
                <a:lnTo>
                  <a:pt x="425203" y="531614"/>
                </a:lnTo>
                <a:lnTo>
                  <a:pt x="0" y="531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33" r="-233"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3018889" y="6821538"/>
            <a:ext cx="3544044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Multi-user safe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018889" y="7367885"/>
            <a:ext cx="4276874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Designed with threads and synchronization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</p:spPr>
        </p:sp>
      </p:grpSp>
      <p:sp>
        <p:nvSpPr>
          <p:cNvPr id="5" name="Freeform 5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92238" y="2409379"/>
            <a:ext cx="7088237" cy="94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Problem Statement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87475" y="3772941"/>
            <a:ext cx="4590604" cy="2115890"/>
            <a:chOff x="0" y="0"/>
            <a:chExt cx="6120805" cy="2821187"/>
          </a:xfrm>
        </p:grpSpPr>
        <p:sp>
          <p:nvSpPr>
            <p:cNvPr id="9" name="Freeform 9"/>
            <p:cNvSpPr/>
            <p:nvPr/>
          </p:nvSpPr>
          <p:spPr>
            <a:xfrm>
              <a:off x="6350" y="6350"/>
              <a:ext cx="6108065" cy="2808478"/>
            </a:xfrm>
            <a:custGeom>
              <a:avLst/>
              <a:gdLst/>
              <a:ahLst/>
              <a:cxnLst/>
              <a:rect l="l" t="t" r="r" b="b"/>
              <a:pathLst>
                <a:path w="6108065" h="2808478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5948934" y="0"/>
                  </a:lnTo>
                  <a:cubicBezTo>
                    <a:pt x="6036818" y="0"/>
                    <a:pt x="6108065" y="71120"/>
                    <a:pt x="6108065" y="158750"/>
                  </a:cubicBezTo>
                  <a:lnTo>
                    <a:pt x="6108065" y="2649728"/>
                  </a:lnTo>
                  <a:cubicBezTo>
                    <a:pt x="6108065" y="2737485"/>
                    <a:pt x="6036818" y="2808478"/>
                    <a:pt x="5948934" y="2808478"/>
                  </a:cubicBezTo>
                  <a:lnTo>
                    <a:pt x="159131" y="2808478"/>
                  </a:lnTo>
                  <a:cubicBezTo>
                    <a:pt x="71247" y="2808478"/>
                    <a:pt x="0" y="2737358"/>
                    <a:pt x="0" y="2649728"/>
                  </a:cubicBezTo>
                  <a:close/>
                </a:path>
              </a:pathLst>
            </a:custGeom>
            <a:solidFill>
              <a:srgbClr val="3D3D42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6120765" cy="2821178"/>
            </a:xfrm>
            <a:custGeom>
              <a:avLst/>
              <a:gdLst/>
              <a:ahLst/>
              <a:cxnLst/>
              <a:rect l="l" t="t" r="r" b="b"/>
              <a:pathLst>
                <a:path w="6120765" h="2821178">
                  <a:moveTo>
                    <a:pt x="0" y="165100"/>
                  </a:moveTo>
                  <a:cubicBezTo>
                    <a:pt x="0" y="73914"/>
                    <a:pt x="74168" y="0"/>
                    <a:pt x="165481" y="0"/>
                  </a:cubicBezTo>
                  <a:lnTo>
                    <a:pt x="5955284" y="0"/>
                  </a:lnTo>
                  <a:lnTo>
                    <a:pt x="5955284" y="6350"/>
                  </a:lnTo>
                  <a:lnTo>
                    <a:pt x="5955284" y="0"/>
                  </a:lnTo>
                  <a:cubicBezTo>
                    <a:pt x="6046724" y="0"/>
                    <a:pt x="6120765" y="73914"/>
                    <a:pt x="6120765" y="165100"/>
                  </a:cubicBezTo>
                  <a:lnTo>
                    <a:pt x="6114415" y="165100"/>
                  </a:lnTo>
                  <a:lnTo>
                    <a:pt x="6120765" y="165100"/>
                  </a:lnTo>
                  <a:lnTo>
                    <a:pt x="6120765" y="2656078"/>
                  </a:lnTo>
                  <a:lnTo>
                    <a:pt x="6114415" y="2656078"/>
                  </a:lnTo>
                  <a:lnTo>
                    <a:pt x="6120765" y="2656078"/>
                  </a:lnTo>
                  <a:cubicBezTo>
                    <a:pt x="6120765" y="2747264"/>
                    <a:pt x="6046597" y="2821178"/>
                    <a:pt x="5955284" y="2821178"/>
                  </a:cubicBezTo>
                  <a:lnTo>
                    <a:pt x="5955284" y="2814828"/>
                  </a:lnTo>
                  <a:lnTo>
                    <a:pt x="5955284" y="2821178"/>
                  </a:lnTo>
                  <a:lnTo>
                    <a:pt x="165481" y="2821178"/>
                  </a:lnTo>
                  <a:lnTo>
                    <a:pt x="165481" y="2814828"/>
                  </a:lnTo>
                  <a:lnTo>
                    <a:pt x="165481" y="2821178"/>
                  </a:lnTo>
                  <a:cubicBezTo>
                    <a:pt x="74041" y="2821178"/>
                    <a:pt x="0" y="2747264"/>
                    <a:pt x="0" y="265607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656078"/>
                  </a:lnTo>
                  <a:lnTo>
                    <a:pt x="6350" y="2656078"/>
                  </a:lnTo>
                  <a:lnTo>
                    <a:pt x="12700" y="2656078"/>
                  </a:lnTo>
                  <a:cubicBezTo>
                    <a:pt x="12700" y="2740279"/>
                    <a:pt x="81153" y="2808478"/>
                    <a:pt x="165481" y="2808478"/>
                  </a:cubicBezTo>
                  <a:lnTo>
                    <a:pt x="5955284" y="2808478"/>
                  </a:lnTo>
                  <a:cubicBezTo>
                    <a:pt x="6039739" y="2808478"/>
                    <a:pt x="6108065" y="2740152"/>
                    <a:pt x="6108065" y="2656078"/>
                  </a:cubicBezTo>
                  <a:lnTo>
                    <a:pt x="6108065" y="165100"/>
                  </a:lnTo>
                  <a:cubicBezTo>
                    <a:pt x="6108065" y="80899"/>
                    <a:pt x="6039612" y="12700"/>
                    <a:pt x="5955284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153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56565B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285280" y="4032648"/>
            <a:ext cx="3544044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Simultaneous access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85280" y="4578995"/>
            <a:ext cx="3994994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Multiple users booking the same seat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852071" y="3772941"/>
            <a:ext cx="4590604" cy="2115890"/>
            <a:chOff x="0" y="0"/>
            <a:chExt cx="6120805" cy="2821187"/>
          </a:xfrm>
        </p:grpSpPr>
        <p:sp>
          <p:nvSpPr>
            <p:cNvPr id="14" name="Freeform 14"/>
            <p:cNvSpPr/>
            <p:nvPr/>
          </p:nvSpPr>
          <p:spPr>
            <a:xfrm>
              <a:off x="6350" y="6350"/>
              <a:ext cx="6108065" cy="2808478"/>
            </a:xfrm>
            <a:custGeom>
              <a:avLst/>
              <a:gdLst/>
              <a:ahLst/>
              <a:cxnLst/>
              <a:rect l="l" t="t" r="r" b="b"/>
              <a:pathLst>
                <a:path w="6108065" h="2808478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5948934" y="0"/>
                  </a:lnTo>
                  <a:cubicBezTo>
                    <a:pt x="6036818" y="0"/>
                    <a:pt x="6108065" y="71120"/>
                    <a:pt x="6108065" y="158750"/>
                  </a:cubicBezTo>
                  <a:lnTo>
                    <a:pt x="6108065" y="2649728"/>
                  </a:lnTo>
                  <a:cubicBezTo>
                    <a:pt x="6108065" y="2737485"/>
                    <a:pt x="6036818" y="2808478"/>
                    <a:pt x="5948934" y="2808478"/>
                  </a:cubicBezTo>
                  <a:lnTo>
                    <a:pt x="159131" y="2808478"/>
                  </a:lnTo>
                  <a:cubicBezTo>
                    <a:pt x="71247" y="2808478"/>
                    <a:pt x="0" y="2737358"/>
                    <a:pt x="0" y="2649728"/>
                  </a:cubicBezTo>
                  <a:close/>
                </a:path>
              </a:pathLst>
            </a:custGeom>
            <a:solidFill>
              <a:srgbClr val="3D3D42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6120765" cy="2821178"/>
            </a:xfrm>
            <a:custGeom>
              <a:avLst/>
              <a:gdLst/>
              <a:ahLst/>
              <a:cxnLst/>
              <a:rect l="l" t="t" r="r" b="b"/>
              <a:pathLst>
                <a:path w="6120765" h="2821178">
                  <a:moveTo>
                    <a:pt x="0" y="165100"/>
                  </a:moveTo>
                  <a:cubicBezTo>
                    <a:pt x="0" y="73914"/>
                    <a:pt x="74168" y="0"/>
                    <a:pt x="165481" y="0"/>
                  </a:cubicBezTo>
                  <a:lnTo>
                    <a:pt x="5955284" y="0"/>
                  </a:lnTo>
                  <a:lnTo>
                    <a:pt x="5955284" y="6350"/>
                  </a:lnTo>
                  <a:lnTo>
                    <a:pt x="5955284" y="0"/>
                  </a:lnTo>
                  <a:cubicBezTo>
                    <a:pt x="6046724" y="0"/>
                    <a:pt x="6120765" y="73914"/>
                    <a:pt x="6120765" y="165100"/>
                  </a:cubicBezTo>
                  <a:lnTo>
                    <a:pt x="6114415" y="165100"/>
                  </a:lnTo>
                  <a:lnTo>
                    <a:pt x="6120765" y="165100"/>
                  </a:lnTo>
                  <a:lnTo>
                    <a:pt x="6120765" y="2656078"/>
                  </a:lnTo>
                  <a:lnTo>
                    <a:pt x="6114415" y="2656078"/>
                  </a:lnTo>
                  <a:lnTo>
                    <a:pt x="6120765" y="2656078"/>
                  </a:lnTo>
                  <a:cubicBezTo>
                    <a:pt x="6120765" y="2747264"/>
                    <a:pt x="6046597" y="2821178"/>
                    <a:pt x="5955284" y="2821178"/>
                  </a:cubicBezTo>
                  <a:lnTo>
                    <a:pt x="5955284" y="2814828"/>
                  </a:lnTo>
                  <a:lnTo>
                    <a:pt x="5955284" y="2821178"/>
                  </a:lnTo>
                  <a:lnTo>
                    <a:pt x="165481" y="2821178"/>
                  </a:lnTo>
                  <a:lnTo>
                    <a:pt x="165481" y="2814828"/>
                  </a:lnTo>
                  <a:lnTo>
                    <a:pt x="165481" y="2821178"/>
                  </a:lnTo>
                  <a:cubicBezTo>
                    <a:pt x="74041" y="2821178"/>
                    <a:pt x="0" y="2747264"/>
                    <a:pt x="0" y="265607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656078"/>
                  </a:lnTo>
                  <a:lnTo>
                    <a:pt x="6350" y="2656078"/>
                  </a:lnTo>
                  <a:lnTo>
                    <a:pt x="12700" y="2656078"/>
                  </a:lnTo>
                  <a:cubicBezTo>
                    <a:pt x="12700" y="2740279"/>
                    <a:pt x="81153" y="2808478"/>
                    <a:pt x="165481" y="2808478"/>
                  </a:cubicBezTo>
                  <a:lnTo>
                    <a:pt x="5955284" y="2808478"/>
                  </a:lnTo>
                  <a:cubicBezTo>
                    <a:pt x="6039739" y="2808478"/>
                    <a:pt x="6108065" y="2740152"/>
                    <a:pt x="6108065" y="2656078"/>
                  </a:cubicBezTo>
                  <a:lnTo>
                    <a:pt x="6108065" y="165100"/>
                  </a:lnTo>
                  <a:cubicBezTo>
                    <a:pt x="6108065" y="80899"/>
                    <a:pt x="6039612" y="12700"/>
                    <a:pt x="5955284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153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56565B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6149876" y="4032648"/>
            <a:ext cx="3544044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Overbooking risk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149876" y="4578995"/>
            <a:ext cx="3994994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Without synchronization, seats are duplicated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87475" y="6162824"/>
            <a:ext cx="9455051" cy="1662261"/>
            <a:chOff x="0" y="0"/>
            <a:chExt cx="12606735" cy="2216348"/>
          </a:xfrm>
        </p:grpSpPr>
        <p:sp>
          <p:nvSpPr>
            <p:cNvPr id="19" name="Freeform 19"/>
            <p:cNvSpPr/>
            <p:nvPr/>
          </p:nvSpPr>
          <p:spPr>
            <a:xfrm>
              <a:off x="6350" y="6350"/>
              <a:ext cx="12594082" cy="2203577"/>
            </a:xfrm>
            <a:custGeom>
              <a:avLst/>
              <a:gdLst/>
              <a:ahLst/>
              <a:cxnLst/>
              <a:rect l="l" t="t" r="r" b="b"/>
              <a:pathLst>
                <a:path w="12594082" h="2203577">
                  <a:moveTo>
                    <a:pt x="0" y="158750"/>
                  </a:moveTo>
                  <a:cubicBezTo>
                    <a:pt x="0" y="71120"/>
                    <a:pt x="71374" y="0"/>
                    <a:pt x="159512" y="0"/>
                  </a:cubicBezTo>
                  <a:lnTo>
                    <a:pt x="12434570" y="0"/>
                  </a:lnTo>
                  <a:cubicBezTo>
                    <a:pt x="12522708" y="0"/>
                    <a:pt x="12594082" y="71120"/>
                    <a:pt x="12594082" y="158750"/>
                  </a:cubicBezTo>
                  <a:lnTo>
                    <a:pt x="12594082" y="2044827"/>
                  </a:lnTo>
                  <a:cubicBezTo>
                    <a:pt x="12594082" y="2132457"/>
                    <a:pt x="12522708" y="2203577"/>
                    <a:pt x="12434570" y="2203577"/>
                  </a:cubicBezTo>
                  <a:lnTo>
                    <a:pt x="159512" y="2203577"/>
                  </a:lnTo>
                  <a:cubicBezTo>
                    <a:pt x="71374" y="2203577"/>
                    <a:pt x="0" y="2132457"/>
                    <a:pt x="0" y="2044827"/>
                  </a:cubicBezTo>
                  <a:close/>
                </a:path>
              </a:pathLst>
            </a:custGeom>
            <a:solidFill>
              <a:srgbClr val="3D3D42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0"/>
              <a:ext cx="12606782" cy="2216277"/>
            </a:xfrm>
            <a:custGeom>
              <a:avLst/>
              <a:gdLst/>
              <a:ahLst/>
              <a:cxnLst/>
              <a:rect l="l" t="t" r="r" b="b"/>
              <a:pathLst>
                <a:path w="12606782" h="2216277">
                  <a:moveTo>
                    <a:pt x="0" y="165100"/>
                  </a:moveTo>
                  <a:cubicBezTo>
                    <a:pt x="0" y="73914"/>
                    <a:pt x="74295" y="0"/>
                    <a:pt x="165862" y="0"/>
                  </a:cubicBezTo>
                  <a:lnTo>
                    <a:pt x="12440920" y="0"/>
                  </a:lnTo>
                  <a:lnTo>
                    <a:pt x="12440920" y="6350"/>
                  </a:lnTo>
                  <a:lnTo>
                    <a:pt x="12440920" y="0"/>
                  </a:lnTo>
                  <a:cubicBezTo>
                    <a:pt x="12532487" y="0"/>
                    <a:pt x="12606782" y="73914"/>
                    <a:pt x="12606782" y="165100"/>
                  </a:cubicBezTo>
                  <a:lnTo>
                    <a:pt x="12600432" y="165100"/>
                  </a:lnTo>
                  <a:lnTo>
                    <a:pt x="12606782" y="165100"/>
                  </a:lnTo>
                  <a:lnTo>
                    <a:pt x="12606782" y="2051177"/>
                  </a:lnTo>
                  <a:lnTo>
                    <a:pt x="12600432" y="2051177"/>
                  </a:lnTo>
                  <a:lnTo>
                    <a:pt x="12606782" y="2051177"/>
                  </a:lnTo>
                  <a:cubicBezTo>
                    <a:pt x="12606782" y="2142363"/>
                    <a:pt x="12532487" y="2216277"/>
                    <a:pt x="12440920" y="2216277"/>
                  </a:cubicBezTo>
                  <a:lnTo>
                    <a:pt x="12440920" y="2209927"/>
                  </a:lnTo>
                  <a:lnTo>
                    <a:pt x="12440920" y="2216277"/>
                  </a:lnTo>
                  <a:lnTo>
                    <a:pt x="165862" y="2216277"/>
                  </a:lnTo>
                  <a:lnTo>
                    <a:pt x="165862" y="2209927"/>
                  </a:lnTo>
                  <a:lnTo>
                    <a:pt x="165862" y="2216277"/>
                  </a:lnTo>
                  <a:cubicBezTo>
                    <a:pt x="74295" y="2216277"/>
                    <a:pt x="0" y="2142363"/>
                    <a:pt x="0" y="2051177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051177"/>
                  </a:lnTo>
                  <a:lnTo>
                    <a:pt x="6350" y="2051177"/>
                  </a:lnTo>
                  <a:lnTo>
                    <a:pt x="12700" y="2051177"/>
                  </a:lnTo>
                  <a:cubicBezTo>
                    <a:pt x="12700" y="2135378"/>
                    <a:pt x="81280" y="2203577"/>
                    <a:pt x="165862" y="2203577"/>
                  </a:cubicBezTo>
                  <a:lnTo>
                    <a:pt x="12440920" y="2203577"/>
                  </a:lnTo>
                  <a:cubicBezTo>
                    <a:pt x="12525501" y="2203577"/>
                    <a:pt x="12594082" y="2135251"/>
                    <a:pt x="12594082" y="2051177"/>
                  </a:cubicBezTo>
                  <a:lnTo>
                    <a:pt x="12594082" y="165100"/>
                  </a:lnTo>
                  <a:cubicBezTo>
                    <a:pt x="12594082" y="80899"/>
                    <a:pt x="12525501" y="12700"/>
                    <a:pt x="12440920" y="12700"/>
                  </a:cubicBezTo>
                  <a:lnTo>
                    <a:pt x="165862" y="12700"/>
                  </a:lnTo>
                  <a:lnTo>
                    <a:pt x="165862" y="6350"/>
                  </a:lnTo>
                  <a:lnTo>
                    <a:pt x="165862" y="12700"/>
                  </a:lnTo>
                  <a:cubicBezTo>
                    <a:pt x="81280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56565B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1285280" y="6422529"/>
            <a:ext cx="3544044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Data inconsistency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85280" y="6968878"/>
            <a:ext cx="8859441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Payment and booking records diverge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</p:spPr>
        </p:sp>
      </p:grpSp>
      <p:sp>
        <p:nvSpPr>
          <p:cNvPr id="5" name="Freeform 5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61988" y="474315"/>
            <a:ext cx="4728865" cy="638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5"/>
              </a:lnSpc>
            </a:pPr>
            <a:r>
              <a:rPr lang="en-US" sz="3687" b="1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Objectives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1988" y="1567309"/>
            <a:ext cx="10106025" cy="547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4"/>
              </a:lnSpc>
            </a:pPr>
            <a:r>
              <a:rPr lang="en-US" sz="4875" b="1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✔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32710" y="2313534"/>
            <a:ext cx="2364433" cy="333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2"/>
              </a:lnSpc>
            </a:pPr>
            <a:r>
              <a:rPr lang="en-US" sz="1812" b="1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Real-time booking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1988" y="2693937"/>
            <a:ext cx="10106025" cy="369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4"/>
              </a:lnSpc>
            </a:pPr>
            <a:r>
              <a:rPr lang="en-US" sz="143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Enable instant seat selection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1988" y="3801219"/>
            <a:ext cx="10106025" cy="547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4"/>
              </a:lnSpc>
            </a:pPr>
            <a:r>
              <a:rPr lang="en-US" sz="4875" b="1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✔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21250" y="4547444"/>
            <a:ext cx="2387352" cy="333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2"/>
              </a:lnSpc>
            </a:pPr>
            <a:r>
              <a:rPr lang="en-US" sz="1812" b="1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Flexible cancellations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1988" y="4927847"/>
            <a:ext cx="10106025" cy="369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4"/>
              </a:lnSpc>
            </a:pPr>
            <a:r>
              <a:rPr lang="en-US" sz="143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Allow refunds for tickets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1988" y="6035129"/>
            <a:ext cx="10106025" cy="547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4"/>
              </a:lnSpc>
            </a:pPr>
            <a:r>
              <a:rPr lang="en-US" sz="4875" b="1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✔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32710" y="6781354"/>
            <a:ext cx="2364433" cy="333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2"/>
              </a:lnSpc>
            </a:pPr>
            <a:r>
              <a:rPr lang="en-US" sz="1812" b="1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Payment validation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1988" y="7161759"/>
            <a:ext cx="10106025" cy="369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4"/>
              </a:lnSpc>
            </a:pPr>
            <a:r>
              <a:rPr lang="en-US" sz="143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Confirm status before booking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1988" y="8269040"/>
            <a:ext cx="10106025" cy="547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4"/>
              </a:lnSpc>
            </a:pPr>
            <a:r>
              <a:rPr lang="en-US" sz="4875" b="1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✔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32710" y="9015264"/>
            <a:ext cx="2364433" cy="333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2"/>
              </a:lnSpc>
            </a:pPr>
            <a:r>
              <a:rPr lang="en-US" sz="1812" b="1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Multi-user support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1988" y="9395669"/>
            <a:ext cx="10106025" cy="369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4"/>
              </a:lnSpc>
            </a:pPr>
            <a:r>
              <a:rPr lang="en-US" sz="143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Handle concurrent requests with Java synchronization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</p:spPr>
        </p:sp>
      </p:grpSp>
      <p:sp>
        <p:nvSpPr>
          <p:cNvPr id="5" name="Freeform 5" descr="preencoded.png"/>
          <p:cNvSpPr/>
          <p:nvPr/>
        </p:nvSpPr>
        <p:spPr>
          <a:xfrm>
            <a:off x="0" y="0"/>
            <a:ext cx="18288000" cy="3544044"/>
          </a:xfrm>
          <a:custGeom>
            <a:avLst/>
            <a:gdLst/>
            <a:ahLst/>
            <a:cxnLst/>
            <a:rect l="l" t="t" r="r" b="b"/>
            <a:pathLst>
              <a:path w="18288000" h="3544044">
                <a:moveTo>
                  <a:pt x="0" y="0"/>
                </a:moveTo>
                <a:lnTo>
                  <a:pt x="18288000" y="0"/>
                </a:lnTo>
                <a:lnTo>
                  <a:pt x="18288000" y="3544044"/>
                </a:lnTo>
                <a:lnTo>
                  <a:pt x="0" y="35440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" r="-10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92238" y="5131594"/>
            <a:ext cx="7088237" cy="94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Technologies Used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992238" y="6549479"/>
            <a:ext cx="708720" cy="708720"/>
          </a:xfrm>
          <a:custGeom>
            <a:avLst/>
            <a:gdLst/>
            <a:ahLst/>
            <a:cxnLst/>
            <a:rect l="l" t="t" r="r" b="b"/>
            <a:pathLst>
              <a:path w="708720" h="708720">
                <a:moveTo>
                  <a:pt x="0" y="0"/>
                </a:moveTo>
                <a:lnTo>
                  <a:pt x="708719" y="0"/>
                </a:lnTo>
                <a:lnTo>
                  <a:pt x="708719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984474" y="6630144"/>
            <a:ext cx="281776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Java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84474" y="7176492"/>
            <a:ext cx="2817763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Core logic and threading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5156598" y="6549479"/>
            <a:ext cx="708720" cy="708720"/>
          </a:xfrm>
          <a:custGeom>
            <a:avLst/>
            <a:gdLst/>
            <a:ahLst/>
            <a:cxnLst/>
            <a:rect l="l" t="t" r="r" b="b"/>
            <a:pathLst>
              <a:path w="708720" h="708720">
                <a:moveTo>
                  <a:pt x="0" y="0"/>
                </a:moveTo>
                <a:lnTo>
                  <a:pt x="708720" y="0"/>
                </a:lnTo>
                <a:lnTo>
                  <a:pt x="708720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148834" y="6630144"/>
            <a:ext cx="2817911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JDBC &amp; MySQL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148834" y="7176492"/>
            <a:ext cx="2817911" cy="146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Database connectivity and storage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9321105" y="6549479"/>
            <a:ext cx="708720" cy="708720"/>
          </a:xfrm>
          <a:custGeom>
            <a:avLst/>
            <a:gdLst/>
            <a:ahLst/>
            <a:cxnLst/>
            <a:rect l="l" t="t" r="r" b="b"/>
            <a:pathLst>
              <a:path w="708720" h="708720">
                <a:moveTo>
                  <a:pt x="0" y="0"/>
                </a:moveTo>
                <a:lnTo>
                  <a:pt x="708720" y="0"/>
                </a:lnTo>
                <a:lnTo>
                  <a:pt x="708720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313342" y="6630144"/>
            <a:ext cx="2817911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Swing (Optional)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13342" y="7619405"/>
            <a:ext cx="2817911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User interface (frontend)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13485614" y="6549479"/>
            <a:ext cx="708720" cy="708720"/>
          </a:xfrm>
          <a:custGeom>
            <a:avLst/>
            <a:gdLst/>
            <a:ahLst/>
            <a:cxnLst/>
            <a:rect l="l" t="t" r="r" b="b"/>
            <a:pathLst>
              <a:path w="708720" h="708720">
                <a:moveTo>
                  <a:pt x="0" y="0"/>
                </a:moveTo>
                <a:lnTo>
                  <a:pt x="708720" y="0"/>
                </a:lnTo>
                <a:lnTo>
                  <a:pt x="708720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4477851" y="6630144"/>
            <a:ext cx="2817911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GitHub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477851" y="7176492"/>
            <a:ext cx="2817911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Version control and collaboration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886420" y="648891"/>
            <a:ext cx="6332041" cy="839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87"/>
              </a:lnSpc>
            </a:pPr>
            <a:r>
              <a:rPr lang="en-US" sz="4937" b="1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System Workflow</a:t>
            </a:r>
          </a:p>
        </p:txBody>
      </p:sp>
      <p:sp>
        <p:nvSpPr>
          <p:cNvPr id="6" name="Freeform 6" descr="preencoded.png"/>
          <p:cNvSpPr/>
          <p:nvPr/>
        </p:nvSpPr>
        <p:spPr>
          <a:xfrm>
            <a:off x="886420" y="1994446"/>
            <a:ext cx="1266379" cy="1519684"/>
          </a:xfrm>
          <a:custGeom>
            <a:avLst/>
            <a:gdLst/>
            <a:ahLst/>
            <a:cxnLst/>
            <a:rect l="l" t="t" r="r" b="b"/>
            <a:pathLst>
              <a:path w="1266379" h="1519684">
                <a:moveTo>
                  <a:pt x="0" y="0"/>
                </a:moveTo>
                <a:lnTo>
                  <a:pt x="1266379" y="0"/>
                </a:lnTo>
                <a:lnTo>
                  <a:pt x="1266379" y="1519684"/>
                </a:lnTo>
                <a:lnTo>
                  <a:pt x="0" y="15196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24" b="-124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532609" y="2228552"/>
            <a:ext cx="3166021" cy="41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User interaction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32609" y="2699891"/>
            <a:ext cx="14868971" cy="500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Opens interface, selects train/seat</a:t>
            </a:r>
          </a:p>
        </p:txBody>
      </p:sp>
      <p:sp>
        <p:nvSpPr>
          <p:cNvPr id="9" name="Freeform 9" descr="preencoded.png"/>
          <p:cNvSpPr/>
          <p:nvPr/>
        </p:nvSpPr>
        <p:spPr>
          <a:xfrm>
            <a:off x="886420" y="3514130"/>
            <a:ext cx="1266379" cy="1519684"/>
          </a:xfrm>
          <a:custGeom>
            <a:avLst/>
            <a:gdLst/>
            <a:ahLst/>
            <a:cxnLst/>
            <a:rect l="l" t="t" r="r" b="b"/>
            <a:pathLst>
              <a:path w="1266379" h="1519684">
                <a:moveTo>
                  <a:pt x="0" y="0"/>
                </a:moveTo>
                <a:lnTo>
                  <a:pt x="1266379" y="0"/>
                </a:lnTo>
                <a:lnTo>
                  <a:pt x="1266379" y="1519684"/>
                </a:lnTo>
                <a:lnTo>
                  <a:pt x="0" y="1519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24" b="-124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532609" y="3748236"/>
            <a:ext cx="3166021" cy="41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Seat locking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32609" y="4219575"/>
            <a:ext cx="14868971" cy="500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System secures selected seat</a:t>
            </a:r>
          </a:p>
        </p:txBody>
      </p:sp>
      <p:sp>
        <p:nvSpPr>
          <p:cNvPr id="12" name="Freeform 12" descr="preencoded.png"/>
          <p:cNvSpPr/>
          <p:nvPr/>
        </p:nvSpPr>
        <p:spPr>
          <a:xfrm>
            <a:off x="886420" y="5033814"/>
            <a:ext cx="1266379" cy="1519684"/>
          </a:xfrm>
          <a:custGeom>
            <a:avLst/>
            <a:gdLst/>
            <a:ahLst/>
            <a:cxnLst/>
            <a:rect l="l" t="t" r="r" b="b"/>
            <a:pathLst>
              <a:path w="1266379" h="1519684">
                <a:moveTo>
                  <a:pt x="0" y="0"/>
                </a:moveTo>
                <a:lnTo>
                  <a:pt x="1266379" y="0"/>
                </a:lnTo>
                <a:lnTo>
                  <a:pt x="1266379" y="1519683"/>
                </a:lnTo>
                <a:lnTo>
                  <a:pt x="0" y="15196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24" b="-124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532609" y="5267920"/>
            <a:ext cx="3166021" cy="41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Payment validation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32609" y="5739259"/>
            <a:ext cx="14868971" cy="500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Ensures payment is successful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886420" y="6553497"/>
            <a:ext cx="1266379" cy="1519684"/>
          </a:xfrm>
          <a:custGeom>
            <a:avLst/>
            <a:gdLst/>
            <a:ahLst/>
            <a:cxnLst/>
            <a:rect l="l" t="t" r="r" b="b"/>
            <a:pathLst>
              <a:path w="1266379" h="1519684">
                <a:moveTo>
                  <a:pt x="0" y="0"/>
                </a:moveTo>
                <a:lnTo>
                  <a:pt x="1266379" y="0"/>
                </a:lnTo>
                <a:lnTo>
                  <a:pt x="1266379" y="1519684"/>
                </a:lnTo>
                <a:lnTo>
                  <a:pt x="0" y="1519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24" b="-124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532609" y="6787604"/>
            <a:ext cx="3214092" cy="41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Booking confirmation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532609" y="7258942"/>
            <a:ext cx="14868971" cy="500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Updates database, offers cancellation</a:t>
            </a:r>
          </a:p>
        </p:txBody>
      </p:sp>
      <p:sp>
        <p:nvSpPr>
          <p:cNvPr id="18" name="Freeform 18" descr="preencoded.png"/>
          <p:cNvSpPr/>
          <p:nvPr/>
        </p:nvSpPr>
        <p:spPr>
          <a:xfrm>
            <a:off x="886420" y="8073181"/>
            <a:ext cx="1266379" cy="1519684"/>
          </a:xfrm>
          <a:custGeom>
            <a:avLst/>
            <a:gdLst/>
            <a:ahLst/>
            <a:cxnLst/>
            <a:rect l="l" t="t" r="r" b="b"/>
            <a:pathLst>
              <a:path w="1266379" h="1519684">
                <a:moveTo>
                  <a:pt x="0" y="0"/>
                </a:moveTo>
                <a:lnTo>
                  <a:pt x="1266379" y="0"/>
                </a:lnTo>
                <a:lnTo>
                  <a:pt x="1266379" y="1519684"/>
                </a:lnTo>
                <a:lnTo>
                  <a:pt x="0" y="15196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24" b="-124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2532609" y="8307289"/>
            <a:ext cx="3166021" cy="41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Thread management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32609" y="8778628"/>
            <a:ext cx="14868971" cy="500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All steps handled concurrently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992238" y="3013322"/>
            <a:ext cx="7088237" cy="94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Thread Handling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2238" y="4531965"/>
            <a:ext cx="7805886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Shared data, like seat lists, protected by synchronized blocks.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5694312"/>
            <a:ext cx="780588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Multiple users simulated using distinct threads.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6403033"/>
            <a:ext cx="780588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Critical sections are atomic, preventing interruptions.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99401" y="4627066"/>
            <a:ext cx="3544044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Prevents: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99401" y="5286821"/>
            <a:ext cx="780588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Overbooking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99401" y="5839569"/>
            <a:ext cx="780588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Payment race conditions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99401" y="6392316"/>
            <a:ext cx="780588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Inconsistent booking records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</p:spPr>
        </p:sp>
      </p:grpSp>
      <p:sp>
        <p:nvSpPr>
          <p:cNvPr id="5" name="Freeform 5" descr="preencoded.png"/>
          <p:cNvSpPr/>
          <p:nvPr/>
        </p:nvSpPr>
        <p:spPr>
          <a:xfrm>
            <a:off x="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850237" y="1302097"/>
            <a:ext cx="7088237" cy="94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Database Schema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845475" y="2665660"/>
            <a:ext cx="9455051" cy="6266855"/>
            <a:chOff x="0" y="0"/>
            <a:chExt cx="12606735" cy="835580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606782" cy="8355838"/>
            </a:xfrm>
            <a:custGeom>
              <a:avLst/>
              <a:gdLst/>
              <a:ahLst/>
              <a:cxnLst/>
              <a:rect l="l" t="t" r="r" b="b"/>
              <a:pathLst>
                <a:path w="12606782" h="8355838">
                  <a:moveTo>
                    <a:pt x="0" y="165100"/>
                  </a:moveTo>
                  <a:cubicBezTo>
                    <a:pt x="0" y="73914"/>
                    <a:pt x="73914" y="0"/>
                    <a:pt x="165227" y="0"/>
                  </a:cubicBezTo>
                  <a:lnTo>
                    <a:pt x="12441555" y="0"/>
                  </a:lnTo>
                  <a:lnTo>
                    <a:pt x="12441555" y="6350"/>
                  </a:lnTo>
                  <a:lnTo>
                    <a:pt x="12441555" y="0"/>
                  </a:lnTo>
                  <a:cubicBezTo>
                    <a:pt x="12532741" y="0"/>
                    <a:pt x="12606782" y="73914"/>
                    <a:pt x="12606782" y="165100"/>
                  </a:cubicBezTo>
                  <a:lnTo>
                    <a:pt x="12600432" y="165100"/>
                  </a:lnTo>
                  <a:lnTo>
                    <a:pt x="12606782" y="165100"/>
                  </a:lnTo>
                  <a:lnTo>
                    <a:pt x="12606782" y="8190738"/>
                  </a:lnTo>
                  <a:lnTo>
                    <a:pt x="12600432" y="8190738"/>
                  </a:lnTo>
                  <a:lnTo>
                    <a:pt x="12606782" y="8190738"/>
                  </a:lnTo>
                  <a:cubicBezTo>
                    <a:pt x="12606782" y="8281924"/>
                    <a:pt x="12532868" y="8355838"/>
                    <a:pt x="12441555" y="8355838"/>
                  </a:cubicBezTo>
                  <a:lnTo>
                    <a:pt x="12441555" y="8349488"/>
                  </a:lnTo>
                  <a:lnTo>
                    <a:pt x="12441555" y="8355838"/>
                  </a:lnTo>
                  <a:lnTo>
                    <a:pt x="165227" y="8355838"/>
                  </a:lnTo>
                  <a:lnTo>
                    <a:pt x="165227" y="8349488"/>
                  </a:lnTo>
                  <a:lnTo>
                    <a:pt x="165227" y="8355838"/>
                  </a:lnTo>
                  <a:cubicBezTo>
                    <a:pt x="74041" y="8355838"/>
                    <a:pt x="0" y="8281924"/>
                    <a:pt x="0" y="819073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8190738"/>
                  </a:lnTo>
                  <a:lnTo>
                    <a:pt x="6350" y="8190738"/>
                  </a:lnTo>
                  <a:lnTo>
                    <a:pt x="12700" y="8190738"/>
                  </a:lnTo>
                  <a:cubicBezTo>
                    <a:pt x="12700" y="8274939"/>
                    <a:pt x="81026" y="8343138"/>
                    <a:pt x="165227" y="8343138"/>
                  </a:cubicBezTo>
                  <a:lnTo>
                    <a:pt x="12441555" y="8343138"/>
                  </a:lnTo>
                  <a:cubicBezTo>
                    <a:pt x="12525756" y="8343138"/>
                    <a:pt x="12594082" y="8274939"/>
                    <a:pt x="12594082" y="8190738"/>
                  </a:cubicBezTo>
                  <a:lnTo>
                    <a:pt x="12594082" y="165100"/>
                  </a:lnTo>
                  <a:cubicBezTo>
                    <a:pt x="12594082" y="80899"/>
                    <a:pt x="12525756" y="12700"/>
                    <a:pt x="12441555" y="12700"/>
                  </a:cubicBezTo>
                  <a:lnTo>
                    <a:pt x="165227" y="12700"/>
                  </a:lnTo>
                  <a:lnTo>
                    <a:pt x="165227" y="6350"/>
                  </a:lnTo>
                  <a:lnTo>
                    <a:pt x="165227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7859762" y="2679947"/>
            <a:ext cx="9425434" cy="812899"/>
            <a:chOff x="0" y="0"/>
            <a:chExt cx="12567245" cy="108386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567285" cy="1083818"/>
            </a:xfrm>
            <a:custGeom>
              <a:avLst/>
              <a:gdLst/>
              <a:ahLst/>
              <a:cxnLst/>
              <a:rect l="l" t="t" r="r" b="b"/>
              <a:pathLst>
                <a:path w="12567285" h="1083818">
                  <a:moveTo>
                    <a:pt x="0" y="0"/>
                  </a:moveTo>
                  <a:lnTo>
                    <a:pt x="12567285" y="0"/>
                  </a:lnTo>
                  <a:lnTo>
                    <a:pt x="12567285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8144321" y="2754809"/>
            <a:ext cx="256966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Field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90548" y="2754809"/>
            <a:ext cx="2564904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Type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432012" y="2754809"/>
            <a:ext cx="256966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Description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7859762" y="3492848"/>
            <a:ext cx="9425434" cy="1266528"/>
            <a:chOff x="0" y="0"/>
            <a:chExt cx="12567245" cy="168870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567285" cy="1688719"/>
            </a:xfrm>
            <a:custGeom>
              <a:avLst/>
              <a:gdLst/>
              <a:ahLst/>
              <a:cxnLst/>
              <a:rect l="l" t="t" r="r" b="b"/>
              <a:pathLst>
                <a:path w="12567285" h="1688719">
                  <a:moveTo>
                    <a:pt x="0" y="0"/>
                  </a:moveTo>
                  <a:lnTo>
                    <a:pt x="12567285" y="0"/>
                  </a:lnTo>
                  <a:lnTo>
                    <a:pt x="12567285" y="1688719"/>
                  </a:lnTo>
                  <a:lnTo>
                    <a:pt x="0" y="16887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8144321" y="3567707"/>
            <a:ext cx="256966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booking_id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90548" y="3567707"/>
            <a:ext cx="2564904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INT (PK)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432012" y="3567707"/>
            <a:ext cx="2569666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Auto-generated unique ID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859762" y="4759375"/>
            <a:ext cx="9425434" cy="812899"/>
            <a:chOff x="0" y="0"/>
            <a:chExt cx="12567245" cy="108386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567285" cy="1083818"/>
            </a:xfrm>
            <a:custGeom>
              <a:avLst/>
              <a:gdLst/>
              <a:ahLst/>
              <a:cxnLst/>
              <a:rect l="l" t="t" r="r" b="b"/>
              <a:pathLst>
                <a:path w="12567285" h="1083818">
                  <a:moveTo>
                    <a:pt x="0" y="0"/>
                  </a:moveTo>
                  <a:lnTo>
                    <a:pt x="12567285" y="0"/>
                  </a:lnTo>
                  <a:lnTo>
                    <a:pt x="12567285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8144321" y="4834235"/>
            <a:ext cx="256966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passenger_name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90548" y="4834235"/>
            <a:ext cx="2564904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VARCHAR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432012" y="4834235"/>
            <a:ext cx="256966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User's full name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7859762" y="5572274"/>
            <a:ext cx="9425434" cy="1266527"/>
            <a:chOff x="0" y="0"/>
            <a:chExt cx="12567245" cy="168870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567285" cy="1688719"/>
            </a:xfrm>
            <a:custGeom>
              <a:avLst/>
              <a:gdLst/>
              <a:ahLst/>
              <a:cxnLst/>
              <a:rect l="l" t="t" r="r" b="b"/>
              <a:pathLst>
                <a:path w="12567285" h="1688719">
                  <a:moveTo>
                    <a:pt x="0" y="0"/>
                  </a:moveTo>
                  <a:lnTo>
                    <a:pt x="12567285" y="0"/>
                  </a:lnTo>
                  <a:lnTo>
                    <a:pt x="12567285" y="1688719"/>
                  </a:lnTo>
                  <a:lnTo>
                    <a:pt x="0" y="16887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8144321" y="5647135"/>
            <a:ext cx="256966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seat_number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90548" y="5647135"/>
            <a:ext cx="2564904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INT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432012" y="5647135"/>
            <a:ext cx="2569666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Selected seat number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7859762" y="6838801"/>
            <a:ext cx="9425434" cy="812899"/>
            <a:chOff x="0" y="0"/>
            <a:chExt cx="12567245" cy="108386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567285" cy="1083818"/>
            </a:xfrm>
            <a:custGeom>
              <a:avLst/>
              <a:gdLst/>
              <a:ahLst/>
              <a:cxnLst/>
              <a:rect l="l" t="t" r="r" b="b"/>
              <a:pathLst>
                <a:path w="12567285" h="1083818">
                  <a:moveTo>
                    <a:pt x="0" y="0"/>
                  </a:moveTo>
                  <a:lnTo>
                    <a:pt x="12567285" y="0"/>
                  </a:lnTo>
                  <a:lnTo>
                    <a:pt x="12567285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8144321" y="6913661"/>
            <a:ext cx="256966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status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290548" y="6913661"/>
            <a:ext cx="2564904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VARCHAR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432012" y="6913661"/>
            <a:ext cx="256966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Booked / Cancelled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859762" y="7651700"/>
            <a:ext cx="9425434" cy="1266527"/>
            <a:chOff x="0" y="0"/>
            <a:chExt cx="12567245" cy="168870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2567285" cy="1688719"/>
            </a:xfrm>
            <a:custGeom>
              <a:avLst/>
              <a:gdLst/>
              <a:ahLst/>
              <a:cxnLst/>
              <a:rect l="l" t="t" r="r" b="b"/>
              <a:pathLst>
                <a:path w="12567285" h="1688719">
                  <a:moveTo>
                    <a:pt x="0" y="0"/>
                  </a:moveTo>
                  <a:lnTo>
                    <a:pt x="12567285" y="0"/>
                  </a:lnTo>
                  <a:lnTo>
                    <a:pt x="12567285" y="1688719"/>
                  </a:lnTo>
                  <a:lnTo>
                    <a:pt x="0" y="16887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36" name="TextBox 36"/>
          <p:cNvSpPr txBox="1"/>
          <p:nvPr/>
        </p:nvSpPr>
        <p:spPr>
          <a:xfrm>
            <a:off x="8144321" y="7726561"/>
            <a:ext cx="256966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payment_status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290548" y="7726561"/>
            <a:ext cx="2564904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VARCHAR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432012" y="7726561"/>
            <a:ext cx="2569666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Paid / Failed / Refunded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</p:spPr>
        </p:sp>
      </p:grpSp>
      <p:sp>
        <p:nvSpPr>
          <p:cNvPr id="5" name="Freeform 5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92238" y="1252240"/>
            <a:ext cx="7726561" cy="94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Challenges &amp; Solutions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311176" y="2620566"/>
            <a:ext cx="38100" cy="6357045"/>
            <a:chOff x="0" y="0"/>
            <a:chExt cx="50800" cy="84760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800" cy="8476107"/>
            </a:xfrm>
            <a:custGeom>
              <a:avLst/>
              <a:gdLst/>
              <a:ahLst/>
              <a:cxnLst/>
              <a:rect l="l" t="t" r="r" b="b"/>
              <a:pathLst>
                <a:path w="50800" h="8476107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8450707"/>
                  </a:lnTo>
                  <a:cubicBezTo>
                    <a:pt x="50800" y="8464676"/>
                    <a:pt x="39370" y="8476107"/>
                    <a:pt x="25400" y="8476107"/>
                  </a:cubicBezTo>
                  <a:cubicBezTo>
                    <a:pt x="11430" y="8476107"/>
                    <a:pt x="0" y="8464676"/>
                    <a:pt x="0" y="8450707"/>
                  </a:cubicBezTo>
                  <a:close/>
                </a:path>
              </a:pathLst>
            </a:custGeom>
            <a:solidFill>
              <a:srgbClr val="56565B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592015" y="2920454"/>
            <a:ext cx="850553" cy="38100"/>
            <a:chOff x="0" y="0"/>
            <a:chExt cx="1134070" cy="50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4110" cy="50800"/>
            </a:xfrm>
            <a:custGeom>
              <a:avLst/>
              <a:gdLst/>
              <a:ahLst/>
              <a:cxnLst/>
              <a:rect l="l" t="t" r="r" b="b"/>
              <a:pathLst>
                <a:path w="1134110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8710" y="0"/>
                  </a:lnTo>
                  <a:cubicBezTo>
                    <a:pt x="1122680" y="0"/>
                    <a:pt x="1134110" y="11430"/>
                    <a:pt x="1134110" y="25400"/>
                  </a:cubicBezTo>
                  <a:cubicBezTo>
                    <a:pt x="1134110" y="39370"/>
                    <a:pt x="1122680" y="50800"/>
                    <a:pt x="110871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56565B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987475" y="2615804"/>
            <a:ext cx="647402" cy="647402"/>
            <a:chOff x="0" y="0"/>
            <a:chExt cx="863203" cy="863203"/>
          </a:xfrm>
        </p:grpSpPr>
        <p:sp>
          <p:nvSpPr>
            <p:cNvPr id="13" name="Freeform 13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3D3D42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56565B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098575" y="2711798"/>
            <a:ext cx="425202" cy="493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 b="1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728764" y="2679799"/>
            <a:ext cx="3544044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Overbooking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728764" y="3226147"/>
            <a:ext cx="7708999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Synchronized methods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592015" y="4651474"/>
            <a:ext cx="850553" cy="38100"/>
            <a:chOff x="0" y="0"/>
            <a:chExt cx="1134070" cy="50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34110" cy="50800"/>
            </a:xfrm>
            <a:custGeom>
              <a:avLst/>
              <a:gdLst/>
              <a:ahLst/>
              <a:cxnLst/>
              <a:rect l="l" t="t" r="r" b="b"/>
              <a:pathLst>
                <a:path w="1134110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8710" y="0"/>
                  </a:lnTo>
                  <a:cubicBezTo>
                    <a:pt x="1122680" y="0"/>
                    <a:pt x="1134110" y="11430"/>
                    <a:pt x="1134110" y="25400"/>
                  </a:cubicBezTo>
                  <a:cubicBezTo>
                    <a:pt x="1134110" y="39370"/>
                    <a:pt x="1122680" y="50800"/>
                    <a:pt x="110871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56565B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987475" y="4346822"/>
            <a:ext cx="647402" cy="647402"/>
            <a:chOff x="0" y="0"/>
            <a:chExt cx="863203" cy="863203"/>
          </a:xfrm>
        </p:grpSpPr>
        <p:sp>
          <p:nvSpPr>
            <p:cNvPr id="21" name="Freeform 21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3D3D42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56565B"/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1098575" y="4442818"/>
            <a:ext cx="425202" cy="493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 b="1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728764" y="4410819"/>
            <a:ext cx="3544044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Simultaneous access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728764" y="4957167"/>
            <a:ext cx="7708999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Java threads with locking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592015" y="6382494"/>
            <a:ext cx="850553" cy="38100"/>
            <a:chOff x="0" y="0"/>
            <a:chExt cx="1134070" cy="50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34110" cy="50800"/>
            </a:xfrm>
            <a:custGeom>
              <a:avLst/>
              <a:gdLst/>
              <a:ahLst/>
              <a:cxnLst/>
              <a:rect l="l" t="t" r="r" b="b"/>
              <a:pathLst>
                <a:path w="1134110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8710" y="0"/>
                  </a:lnTo>
                  <a:cubicBezTo>
                    <a:pt x="1122680" y="0"/>
                    <a:pt x="1134110" y="11430"/>
                    <a:pt x="1134110" y="25400"/>
                  </a:cubicBezTo>
                  <a:cubicBezTo>
                    <a:pt x="1134110" y="39370"/>
                    <a:pt x="1122680" y="50800"/>
                    <a:pt x="110871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56565B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987475" y="6077842"/>
            <a:ext cx="647402" cy="647402"/>
            <a:chOff x="0" y="0"/>
            <a:chExt cx="863203" cy="863203"/>
          </a:xfrm>
        </p:grpSpPr>
        <p:sp>
          <p:nvSpPr>
            <p:cNvPr id="29" name="Freeform 29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3D3D42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56565B"/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1098575" y="6173837"/>
            <a:ext cx="425202" cy="493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 b="1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728764" y="6141839"/>
            <a:ext cx="3544044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Payment issues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728764" y="6688187"/>
            <a:ext cx="7708999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Validated before booking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592015" y="8113514"/>
            <a:ext cx="850553" cy="38100"/>
            <a:chOff x="0" y="0"/>
            <a:chExt cx="1134070" cy="50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134110" cy="50800"/>
            </a:xfrm>
            <a:custGeom>
              <a:avLst/>
              <a:gdLst/>
              <a:ahLst/>
              <a:cxnLst/>
              <a:rect l="l" t="t" r="r" b="b"/>
              <a:pathLst>
                <a:path w="1134110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8710" y="0"/>
                  </a:lnTo>
                  <a:cubicBezTo>
                    <a:pt x="1122680" y="0"/>
                    <a:pt x="1134110" y="11430"/>
                    <a:pt x="1134110" y="25400"/>
                  </a:cubicBezTo>
                  <a:cubicBezTo>
                    <a:pt x="1134110" y="39370"/>
                    <a:pt x="1122680" y="50800"/>
                    <a:pt x="110871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56565B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987475" y="7808862"/>
            <a:ext cx="647402" cy="647402"/>
            <a:chOff x="0" y="0"/>
            <a:chExt cx="863203" cy="863203"/>
          </a:xfrm>
        </p:grpSpPr>
        <p:sp>
          <p:nvSpPr>
            <p:cNvPr id="37" name="Freeform 37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3D3D42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56565B"/>
            </a:solidFill>
          </p:spPr>
        </p:sp>
      </p:grpSp>
      <p:sp>
        <p:nvSpPr>
          <p:cNvPr id="39" name="TextBox 39"/>
          <p:cNvSpPr txBox="1"/>
          <p:nvPr/>
        </p:nvSpPr>
        <p:spPr>
          <a:xfrm>
            <a:off x="1098575" y="7904858"/>
            <a:ext cx="425202" cy="493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 b="1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4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728764" y="7872859"/>
            <a:ext cx="3544044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Data inconsistency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728764" y="8419207"/>
            <a:ext cx="7708999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DAO pattern + transaction control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A2A2D">
                <a:alpha val="90196"/>
              </a:srgbClr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992238" y="1208335"/>
            <a:ext cx="8124081" cy="94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CBCCCE"/>
                </a:solidFill>
                <a:latin typeface="Arimo Bold"/>
                <a:ea typeface="Arimo Bold"/>
                <a:cs typeface="Arimo Bold"/>
                <a:sym typeface="Arimo Bold"/>
              </a:rPr>
              <a:t>Conclusion &amp; Thank You</a:t>
            </a:r>
          </a:p>
        </p:txBody>
      </p:sp>
      <p:sp>
        <p:nvSpPr>
          <p:cNvPr id="6" name="Freeform 6" descr="preencoded.png"/>
          <p:cNvSpPr/>
          <p:nvPr/>
        </p:nvSpPr>
        <p:spPr>
          <a:xfrm>
            <a:off x="992238" y="2718495"/>
            <a:ext cx="5198269" cy="3212752"/>
          </a:xfrm>
          <a:custGeom>
            <a:avLst/>
            <a:gdLst/>
            <a:ahLst/>
            <a:cxnLst/>
            <a:rect l="l" t="t" r="r" b="b"/>
            <a:pathLst>
              <a:path w="5198269" h="3212752">
                <a:moveTo>
                  <a:pt x="0" y="0"/>
                </a:moveTo>
                <a:lnTo>
                  <a:pt x="5198268" y="0"/>
                </a:lnTo>
                <a:lnTo>
                  <a:pt x="5198268" y="3212752"/>
                </a:lnTo>
                <a:lnTo>
                  <a:pt x="0" y="32127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6" r="-66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92238" y="6247508"/>
            <a:ext cx="4608314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Thread-safe Ticket Booking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6793855"/>
            <a:ext cx="5198269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Reliable and concurrent system handling multiple users</a:t>
            </a:r>
          </a:p>
        </p:txBody>
      </p:sp>
      <p:sp>
        <p:nvSpPr>
          <p:cNvPr id="9" name="Freeform 9" descr="preencoded.png"/>
          <p:cNvSpPr/>
          <p:nvPr/>
        </p:nvSpPr>
        <p:spPr>
          <a:xfrm>
            <a:off x="6544866" y="2718495"/>
            <a:ext cx="5198269" cy="3212752"/>
          </a:xfrm>
          <a:custGeom>
            <a:avLst/>
            <a:gdLst/>
            <a:ahLst/>
            <a:cxnLst/>
            <a:rect l="l" t="t" r="r" b="b"/>
            <a:pathLst>
              <a:path w="5198269" h="3212752">
                <a:moveTo>
                  <a:pt x="0" y="0"/>
                </a:moveTo>
                <a:lnTo>
                  <a:pt x="5198269" y="0"/>
                </a:lnTo>
                <a:lnTo>
                  <a:pt x="5198269" y="3212752"/>
                </a:lnTo>
                <a:lnTo>
                  <a:pt x="0" y="32127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6" r="-66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544866" y="6247508"/>
            <a:ext cx="4916538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Seat Selection &amp; Cancellation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44866" y="6793855"/>
            <a:ext cx="5198269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Interactive booking with flexible ticket management</a:t>
            </a:r>
          </a:p>
        </p:txBody>
      </p:sp>
      <p:sp>
        <p:nvSpPr>
          <p:cNvPr id="12" name="Freeform 12" descr="preencoded.png"/>
          <p:cNvSpPr/>
          <p:nvPr/>
        </p:nvSpPr>
        <p:spPr>
          <a:xfrm>
            <a:off x="12097494" y="2718495"/>
            <a:ext cx="5198269" cy="3212752"/>
          </a:xfrm>
          <a:custGeom>
            <a:avLst/>
            <a:gdLst/>
            <a:ahLst/>
            <a:cxnLst/>
            <a:rect l="l" t="t" r="r" b="b"/>
            <a:pathLst>
              <a:path w="5198269" h="3212752">
                <a:moveTo>
                  <a:pt x="0" y="0"/>
                </a:moveTo>
                <a:lnTo>
                  <a:pt x="5198268" y="0"/>
                </a:lnTo>
                <a:lnTo>
                  <a:pt x="5198268" y="3212752"/>
                </a:lnTo>
                <a:lnTo>
                  <a:pt x="0" y="32127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6" r="-66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2097494" y="6247508"/>
            <a:ext cx="5198269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CFD0D8"/>
                </a:solidFill>
                <a:latin typeface="Arimo Bold"/>
                <a:ea typeface="Arimo Bold"/>
                <a:cs typeface="Arimo Bold"/>
                <a:sym typeface="Arimo Bold"/>
              </a:rPr>
              <a:t>Java Concurrency &amp; Database Design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097494" y="7236767"/>
            <a:ext cx="5198269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Demonstrates practical use of Java threads and data storage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2238" y="8462963"/>
            <a:ext cx="1630352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FD0D8"/>
                </a:solidFill>
                <a:latin typeface="Arimo"/>
                <a:ea typeface="Arimo"/>
                <a:cs typeface="Arimo"/>
                <a:sym typeface="Arimo"/>
              </a:rPr>
              <a:t>GitHub: </a:t>
            </a:r>
            <a:r>
              <a:rPr lang="en-US" sz="2187" u="sng">
                <a:solidFill>
                  <a:srgbClr val="D5D5D8"/>
                </a:solidFill>
                <a:latin typeface="Arimo"/>
                <a:ea typeface="Arimo"/>
                <a:cs typeface="Arimo"/>
                <a:sym typeface="Arimo"/>
                <a:hlinkClick r:id="rId6" tooltip="https://github.com/4ditxya/concurrent-railway-booking"/>
              </a:rPr>
              <a:t>https://github.com/4ditxya/concurrent-railway-booking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341</Words>
  <Application>Microsoft Office PowerPoint</Application>
  <PresentationFormat>Custom</PresentationFormat>
  <Paragraphs>101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Arimo Bold</vt:lpstr>
      <vt:lpstr>Arimo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Sayyadain Khan</dc:creator>
  <cp:lastModifiedBy>Sayyadain Khan</cp:lastModifiedBy>
  <cp:revision>2</cp:revision>
  <dcterms:created xsi:type="dcterms:W3CDTF">2006-08-16T00:00:00Z</dcterms:created>
  <dcterms:modified xsi:type="dcterms:W3CDTF">2026-04-30T18:36:49Z</dcterms:modified>
  <dc:identifier>DAGocbmct-M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1330682</vt:lpwstr>
  </property>
  <property fmtid="{D5CDD505-2E9C-101B-9397-08002B2CF9AE}" pid="3" name="NXPowerLiteSettings">
    <vt:lpwstr>F7000400038000</vt:lpwstr>
  </property>
  <property fmtid="{D5CDD505-2E9C-101B-9397-08002B2CF9AE}" pid="4" name="NXPowerLiteVersion">
    <vt:lpwstr>S10.3.1</vt:lpwstr>
  </property>
</Properties>
</file>